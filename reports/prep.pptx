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57" r:id="rId3"/>
    <p:sldId id="258" r:id="rId4"/>
    <p:sldId id="259" r:id="rId5"/>
    <p:sldId id="260" r:id="rId6"/>
    <p:sldId id="261" r:id="rId7"/>
    <p:sldId id="365" r:id="rId8"/>
    <p:sldId id="367" r:id="rId9"/>
    <p:sldId id="263" r:id="rId10"/>
    <p:sldId id="266" r:id="rId11"/>
    <p:sldId id="370" r:id="rId12"/>
    <p:sldId id="264" r:id="rId13"/>
    <p:sldId id="272" r:id="rId14"/>
    <p:sldId id="273" r:id="rId15"/>
    <p:sldId id="274" r:id="rId16"/>
    <p:sldId id="265" r:id="rId17"/>
    <p:sldId id="267" r:id="rId18"/>
    <p:sldId id="270" r:id="rId19"/>
    <p:sldId id="271" r:id="rId20"/>
  </p:sldIdLst>
  <p:sldSz cx="12190413" cy="68595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34C49"/>
    <a:srgbClr val="008A83"/>
    <a:srgbClr val="E71F19"/>
    <a:srgbClr val="F04E3F"/>
    <a:srgbClr val="31B8B4"/>
    <a:srgbClr val="E94E60"/>
    <a:srgbClr val="27C5D6"/>
    <a:srgbClr val="F58C65"/>
    <a:srgbClr val="74AD93"/>
    <a:srgbClr val="4FC3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2" autoAdjust="0"/>
    <p:restoredTop sz="95004" autoAdjust="0"/>
  </p:normalViewPr>
  <p:slideViewPr>
    <p:cSldViewPr snapToGrid="0">
      <p:cViewPr varScale="1">
        <p:scale>
          <a:sx n="105" d="100"/>
          <a:sy n="105" d="100"/>
        </p:scale>
        <p:origin x="3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2C8C0-A3D3-487B-AECC-CB6663EAE28D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9D3E0-124D-4DFF-AE99-4EA4CC201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3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95000"/>
              </a:schemeClr>
            </a:gs>
            <a:gs pos="0">
              <a:schemeClr val="bg1">
                <a:lumMod val="9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70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5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96EC2F-0988-4314-AD4B-24FF16D7B4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6/28/2026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5782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281" y="1646947"/>
            <a:ext cx="10057090" cy="83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sz="4800"/>
              <a:t>2026 春季 OS 训练营答辩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281" y="2926940"/>
            <a:ext cx="10057090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rPr sz="3200"/>
              <a:t>StarryOS 网络应用适配与测试体系构建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281" y="4389789"/>
            <a:ext cx="10057090" cy="3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刘柯  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| 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Antareske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 |  2026.06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033024" y="401812"/>
            <a:ext cx="6110515" cy="597320"/>
            <a:chOff x="384045" y="271186"/>
            <a:chExt cx="6110515" cy="597320"/>
          </a:xfrm>
        </p:grpSpPr>
        <p:sp>
          <p:nvSpPr>
            <p:cNvPr id="32" name="9"/>
            <p:cNvSpPr txBox="1"/>
            <p:nvPr/>
          </p:nvSpPr>
          <p:spPr>
            <a:xfrm>
              <a:off x="1719108" y="271186"/>
              <a:ext cx="3435256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 algn="ctr"/>
              <a:r>
                <a:rPr lang="en-US" altLang="zh-CN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2026s AI4OS </a:t>
              </a:r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路线</a:t>
              </a:r>
            </a:p>
          </p:txBody>
        </p:sp>
        <p:cxnSp>
          <p:nvCxnSpPr>
            <p:cNvPr id="6" name="品 11"/>
            <p:cNvCxnSpPr/>
            <p:nvPr>
              <p:custDataLst>
                <p:tags r:id="rId1"/>
              </p:custDataLst>
            </p:nvPr>
          </p:nvCxnSpPr>
          <p:spPr>
            <a:xfrm>
              <a:off x="384045" y="868506"/>
              <a:ext cx="6110515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grpSp>
        <p:nvGrpSpPr>
          <p:cNvPr id="14" name="Group 15"/>
          <p:cNvGrpSpPr/>
          <p:nvPr/>
        </p:nvGrpSpPr>
        <p:grpSpPr bwMode="auto">
          <a:xfrm>
            <a:off x="1404796" y="1369074"/>
            <a:ext cx="3959684" cy="781604"/>
            <a:chOff x="0" y="0"/>
            <a:chExt cx="2917096" cy="781405"/>
          </a:xfrm>
        </p:grpSpPr>
        <p:sp>
          <p:nvSpPr>
            <p:cNvPr id="15" name="文本框 48"/>
            <p:cNvSpPr txBox="1">
              <a:spLocks noChangeArrowheads="1"/>
            </p:cNvSpPr>
            <p:nvPr/>
          </p:nvSpPr>
          <p:spPr bwMode="auto">
            <a:xfrm>
              <a:off x="0" y="0"/>
              <a:ext cx="2917096" cy="461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方案一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系统调用测试基础</a:t>
              </a:r>
            </a:p>
          </p:txBody>
        </p:sp>
        <p:sp>
          <p:nvSpPr>
            <p:cNvPr id="16" name="文本框 14"/>
            <p:cNvSpPr txBox="1">
              <a:spLocks noChangeArrowheads="1"/>
            </p:cNvSpPr>
            <p:nvPr/>
          </p:nvSpPr>
          <p:spPr bwMode="auto">
            <a:xfrm>
              <a:off x="18823" y="442937"/>
              <a:ext cx="2044230" cy="338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 sz="1600">
                  <a:solidFill>
                    <a:srgbClr val="2D2D2D"/>
                  </a:solidFill>
                </a:defRPr>
              </a:pP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600" kern="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epoll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事件复用 </a:t>
              </a: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+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文件同步</a:t>
              </a:r>
            </a:p>
          </p:txBody>
        </p:sp>
      </p:grpSp>
      <p:sp>
        <p:nvSpPr>
          <p:cNvPr id="17" name="矩形 11"/>
          <p:cNvSpPr>
            <a:spLocks noChangeArrowheads="1"/>
          </p:cNvSpPr>
          <p:nvPr/>
        </p:nvSpPr>
        <p:spPr bwMode="auto">
          <a:xfrm>
            <a:off x="1333356" y="1363136"/>
            <a:ext cx="96991" cy="82708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pSp>
        <p:nvGrpSpPr>
          <p:cNvPr id="18" name="Group 19"/>
          <p:cNvGrpSpPr/>
          <p:nvPr/>
        </p:nvGrpSpPr>
        <p:grpSpPr bwMode="auto">
          <a:xfrm>
            <a:off x="1381850" y="2695896"/>
            <a:ext cx="8773439" cy="1122096"/>
            <a:chOff x="-10096" y="0"/>
            <a:chExt cx="3860597" cy="1121810"/>
          </a:xfrm>
        </p:grpSpPr>
        <p:sp>
          <p:nvSpPr>
            <p:cNvPr id="19" name="文本框 71"/>
            <p:cNvSpPr txBox="1">
              <a:spLocks noChangeArrowheads="1"/>
            </p:cNvSpPr>
            <p:nvPr/>
          </p:nvSpPr>
          <p:spPr bwMode="auto">
            <a:xfrm>
              <a:off x="0" y="0"/>
              <a:ext cx="3850501" cy="461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方案二 </a:t>
              </a:r>
              <a:r>
                <a:rPr lang="en-US" altLang="zh-CN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Linux </a:t>
              </a: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应用适配与测试框架</a:t>
              </a:r>
            </a:p>
          </p:txBody>
        </p:sp>
        <p:sp>
          <p:nvSpPr>
            <p:cNvPr id="20" name="文本框 14"/>
            <p:cNvSpPr txBox="1">
              <a:spLocks noChangeArrowheads="1"/>
            </p:cNvSpPr>
            <p:nvPr/>
          </p:nvSpPr>
          <p:spPr bwMode="auto">
            <a:xfrm>
              <a:off x="-10096" y="460258"/>
              <a:ext cx="3850501" cy="661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ts val="600"/>
                </a:spcAft>
                <a:defRPr sz="1600">
                  <a:solidFill>
                    <a:srgbClr val="2D2D2D"/>
                  </a:solidFill>
                </a:defRPr>
              </a:pPr>
              <a:r>
                <a:rPr 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Nginx / Apache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→ 递进测试 </a:t>
              </a: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+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修复</a:t>
              </a:r>
              <a:endParaRPr lang="en-US" sz="1600" kern="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冬青黑体简体中文 W3" pitchFamily="2" charset="-122"/>
                <a:cs typeface="Arial" panose="020B0604020202020204" pitchFamily="34" charset="0"/>
              </a:endParaRPr>
            </a:p>
            <a:p>
              <a:pPr>
                <a:defRPr/>
              </a:pPr>
              <a:r>
                <a:rPr 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net-bench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网络性能测试基础设施 → </a:t>
              </a:r>
              <a:r>
                <a:rPr lang="en-US" sz="1600" kern="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vhost</a:t>
              </a:r>
              <a:r>
                <a:rPr 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/tap/</a:t>
              </a:r>
              <a:r>
                <a:rPr lang="en-US" sz="1600" kern="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slirp</a:t>
              </a:r>
              <a:r>
                <a:rPr 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拓扑 </a:t>
              </a: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+ 5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类性能测试 </a:t>
              </a: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+ </a:t>
              </a:r>
              <a:r>
                <a:rPr lang="en-US" sz="1600" kern="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eBPF</a:t>
              </a:r>
              <a:r>
                <a:rPr 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观测</a:t>
              </a:r>
            </a:p>
          </p:txBody>
        </p:sp>
      </p:grpSp>
      <p:sp>
        <p:nvSpPr>
          <p:cNvPr id="21" name="矩形 70"/>
          <p:cNvSpPr>
            <a:spLocks noChangeArrowheads="1"/>
          </p:cNvSpPr>
          <p:nvPr/>
        </p:nvSpPr>
        <p:spPr bwMode="auto">
          <a:xfrm>
            <a:off x="1333356" y="2743521"/>
            <a:ext cx="96991" cy="8255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pSp>
        <p:nvGrpSpPr>
          <p:cNvPr id="22" name="Group 23"/>
          <p:cNvGrpSpPr/>
          <p:nvPr/>
        </p:nvGrpSpPr>
        <p:grpSpPr bwMode="auto">
          <a:xfrm>
            <a:off x="1404795" y="4363425"/>
            <a:ext cx="9228889" cy="1116997"/>
            <a:chOff x="0" y="0"/>
            <a:chExt cx="3961234" cy="1118607"/>
          </a:xfrm>
        </p:grpSpPr>
        <p:sp>
          <p:nvSpPr>
            <p:cNvPr id="23" name="文本框 76"/>
            <p:cNvSpPr txBox="1">
              <a:spLocks noChangeArrowheads="1"/>
            </p:cNvSpPr>
            <p:nvPr/>
          </p:nvSpPr>
          <p:spPr bwMode="auto">
            <a:xfrm>
              <a:off x="0" y="0"/>
              <a:ext cx="3961234" cy="462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方案三 </a:t>
              </a:r>
              <a:r>
                <a:rPr lang="en-US" altLang="zh-CN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en-US" altLang="zh-CN" sz="2400" b="1" kern="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StarryOS</a:t>
              </a:r>
              <a:r>
                <a:rPr lang="en-US" altLang="zh-CN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网络性能优化与 </a:t>
              </a:r>
              <a:r>
                <a:rPr lang="en-US" altLang="zh-CN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 </a:t>
              </a:r>
              <a:r>
                <a:rPr lang="zh-CN" altLang="en-US" sz="2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功能赛</a:t>
              </a:r>
            </a:p>
          </p:txBody>
        </p:sp>
        <p:sp>
          <p:nvSpPr>
            <p:cNvPr id="24" name="文本框 14"/>
            <p:cNvSpPr txBox="1">
              <a:spLocks noChangeArrowheads="1"/>
            </p:cNvSpPr>
            <p:nvPr/>
          </p:nvSpPr>
          <p:spPr bwMode="auto">
            <a:xfrm>
              <a:off x="0" y="455933"/>
              <a:ext cx="3850501" cy="662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ts val="600"/>
                </a:spcAft>
                <a:defRPr sz="1600">
                  <a:solidFill>
                    <a:srgbClr val="2D2D2D"/>
                  </a:solidFill>
                </a:defRPr>
              </a:pP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net-bench + </a:t>
              </a:r>
              <a:r>
                <a:rPr lang="en-US" altLang="zh-CN" sz="1600" kern="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StarryOS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网络栈优化</a:t>
              </a:r>
              <a:endParaRPr lang="en-US" altLang="zh-CN" sz="1600" kern="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冬青黑体简体中文 W3" pitchFamily="2" charset="-122"/>
                <a:cs typeface="Arial" panose="020B0604020202020204" pitchFamily="34" charset="0"/>
              </a:endParaRPr>
            </a:p>
            <a:p>
              <a:pPr>
                <a:spcAft>
                  <a:spcPts val="600"/>
                </a:spcAft>
                <a:defRPr sz="1600">
                  <a:solidFill>
                    <a:srgbClr val="2D2D2D"/>
                  </a:solidFill>
                </a:defRPr>
              </a:pP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 proj57 ACT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推理 → </a:t>
              </a:r>
              <a:r>
                <a:rPr lang="en-US" altLang="zh-CN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QEMU CPU + RK3588 NPU </a:t>
              </a:r>
              <a:r>
                <a:rPr lang="zh-CN" altLang="en-US" sz="1600" kern="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冬青黑体简体中文 W3" pitchFamily="2" charset="-122"/>
                  <a:cs typeface="Arial" panose="020B0604020202020204" pitchFamily="34" charset="0"/>
                </a:rPr>
                <a:t>两阶段交付</a:t>
              </a:r>
            </a:p>
          </p:txBody>
        </p:sp>
      </p:grpSp>
      <p:sp>
        <p:nvSpPr>
          <p:cNvPr id="25" name="矩形 75"/>
          <p:cNvSpPr>
            <a:spLocks noChangeArrowheads="1"/>
          </p:cNvSpPr>
          <p:nvPr/>
        </p:nvSpPr>
        <p:spPr bwMode="auto">
          <a:xfrm>
            <a:off x="1311629" y="4441574"/>
            <a:ext cx="96991" cy="8255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424" y="1372662"/>
            <a:ext cx="3657124" cy="120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rPr sz="7199"/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425" y="2926939"/>
            <a:ext cx="10057090" cy="73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方案一：系统调用测试基础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sz="3200" dirty="0" err="1"/>
              <a:t>方案一</a:t>
            </a:r>
            <a:r>
              <a:rPr sz="3200" dirty="0"/>
              <a:t> · </a:t>
            </a:r>
            <a:r>
              <a:rPr sz="3200" dirty="0" err="1"/>
              <a:t>系统调用测试基础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293961" y="5956036"/>
            <a:ext cx="11602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rPr sz="1600" dirty="0" err="1"/>
              <a:t>方法论：先对照</a:t>
            </a:r>
            <a:r>
              <a:rPr sz="1600" dirty="0"/>
              <a:t> Linux man </a:t>
            </a:r>
            <a:r>
              <a:rPr sz="1600" dirty="0" err="1"/>
              <a:t>手册逐条梳理语义</a:t>
            </a:r>
            <a:r>
              <a:rPr sz="1600" dirty="0"/>
              <a:t> → 在 Linux </a:t>
            </a:r>
            <a:r>
              <a:rPr sz="1600" dirty="0" err="1"/>
              <a:t>上验证测例正确性</a:t>
            </a:r>
            <a:r>
              <a:rPr sz="1600" dirty="0"/>
              <a:t> → </a:t>
            </a:r>
            <a:r>
              <a:rPr sz="1600" dirty="0" err="1"/>
              <a:t>同一测例验证</a:t>
            </a:r>
            <a:r>
              <a:rPr sz="1600" dirty="0"/>
              <a:t> </a:t>
            </a:r>
            <a:r>
              <a:rPr sz="1600" dirty="0" err="1"/>
              <a:t>StarryOS</a:t>
            </a:r>
            <a:r>
              <a:rPr sz="1600" dirty="0"/>
              <a:t> → </a:t>
            </a:r>
            <a:r>
              <a:rPr sz="1600" dirty="0" err="1"/>
              <a:t>四架构</a:t>
            </a:r>
            <a:r>
              <a:rPr sz="1600" dirty="0"/>
              <a:t> CI </a:t>
            </a:r>
            <a:r>
              <a:rPr sz="1600" dirty="0" err="1"/>
              <a:t>回归</a:t>
            </a:r>
            <a:r>
              <a:rPr sz="1600" dirty="0"/>
              <a:t> → </a:t>
            </a:r>
            <a:r>
              <a:rPr sz="1600" dirty="0" err="1"/>
              <a:t>提交</a:t>
            </a:r>
            <a:r>
              <a:rPr sz="1600" dirty="0"/>
              <a:t> PR</a:t>
            </a:r>
            <a:r>
              <a:rPr lang="en-US" sz="1600" dirty="0"/>
              <a:t>  </a:t>
            </a:r>
            <a:endParaRPr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B74CFB-3341-8F00-1368-EA9759BEBB7F}"/>
              </a:ext>
            </a:extLst>
          </p:cNvPr>
          <p:cNvSpPr/>
          <p:nvPr/>
        </p:nvSpPr>
        <p:spPr>
          <a:xfrm>
            <a:off x="3221360" y="3433572"/>
            <a:ext cx="33697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CN" sz="2800" dirty="0" err="1">
                <a:latin typeface="Consolas" panose="020B0609020204030204" pitchFamily="49" charset="0"/>
                <a:ea typeface="冬青黑体简体中文 W3" pitchFamily="2" charset="-122"/>
              </a:rPr>
              <a:t>fsync</a:t>
            </a:r>
            <a:endParaRPr lang="en-US" altLang="zh-CN" sz="2800" dirty="0">
              <a:latin typeface="Consolas" panose="020B0609020204030204" pitchFamily="49" charset="0"/>
              <a:ea typeface="冬青黑体简体中文 W3" pitchFamily="2" charset="-122"/>
            </a:endParaRPr>
          </a:p>
          <a:p>
            <a:pPr fontAlgn="base"/>
            <a:r>
              <a:rPr lang="en-US" altLang="zh-CN" sz="2800" dirty="0" err="1">
                <a:latin typeface="Consolas" panose="020B0609020204030204" pitchFamily="49" charset="0"/>
                <a:ea typeface="冬青黑体简体中文 W3" pitchFamily="2" charset="-122"/>
              </a:rPr>
              <a:t>fdatasync</a:t>
            </a:r>
            <a:endParaRPr lang="en-US" altLang="zh-CN" sz="2800" dirty="0">
              <a:latin typeface="Consolas" panose="020B0609020204030204" pitchFamily="49" charset="0"/>
              <a:ea typeface="冬青黑体简体中文 W3" pitchFamily="2" charset="-122"/>
            </a:endParaRPr>
          </a:p>
          <a:p>
            <a:pPr fontAlgn="base"/>
            <a:r>
              <a:rPr lang="en-US" altLang="zh-CN" sz="2800" dirty="0" err="1">
                <a:latin typeface="Consolas" panose="020B0609020204030204" pitchFamily="49" charset="0"/>
                <a:ea typeface="冬青黑体简体中文 W3" pitchFamily="2" charset="-122"/>
              </a:rPr>
              <a:t>sync_file_range</a:t>
            </a:r>
            <a:endParaRPr lang="en-US" altLang="zh-CN" sz="2800" dirty="0">
              <a:latin typeface="Consolas" panose="020B0609020204030204" pitchFamily="49" charset="0"/>
              <a:ea typeface="冬青黑体简体中文 W3" pitchFamily="2" charset="-122"/>
            </a:endParaRPr>
          </a:p>
          <a:p>
            <a:pPr fontAlgn="base"/>
            <a:r>
              <a:rPr lang="en-US" altLang="zh-CN" sz="2800" dirty="0">
                <a:latin typeface="Consolas" panose="020B0609020204030204" pitchFamily="49" charset="0"/>
                <a:ea typeface="冬青黑体简体中文 W3" pitchFamily="2" charset="-122"/>
              </a:rPr>
              <a:t>sync</a:t>
            </a:r>
          </a:p>
          <a:p>
            <a:pPr fontAlgn="base"/>
            <a:r>
              <a:rPr lang="en-US" altLang="zh-CN" sz="2800" dirty="0" err="1">
                <a:latin typeface="Consolas" panose="020B0609020204030204" pitchFamily="49" charset="0"/>
                <a:ea typeface="冬青黑体简体中文 W3" pitchFamily="2" charset="-122"/>
              </a:rPr>
              <a:t>syncfs</a:t>
            </a:r>
            <a:endParaRPr lang="en-US" altLang="zh-CN" sz="2800" dirty="0">
              <a:latin typeface="Consolas" panose="020B0609020204030204" pitchFamily="49" charset="0"/>
              <a:ea typeface="冬青黑体简体中文 W3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EB1E71-2EA5-AE4F-5B2B-3A80A6E761A0}"/>
              </a:ext>
            </a:extLst>
          </p:cNvPr>
          <p:cNvSpPr/>
          <p:nvPr/>
        </p:nvSpPr>
        <p:spPr>
          <a:xfrm>
            <a:off x="6675840" y="3531433"/>
            <a:ext cx="505364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⚠️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syncfs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无效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→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修复为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EBADF</a:t>
            </a:r>
          </a:p>
          <a:p>
            <a:pPr fontAlgn="base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⚠️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sync_file_range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flags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未校验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pipe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errno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BEDDF5-9DD8-1060-F29C-D3E5FDDDA573}"/>
              </a:ext>
            </a:extLst>
          </p:cNvPr>
          <p:cNvSpPr/>
          <p:nvPr/>
        </p:nvSpPr>
        <p:spPr>
          <a:xfrm>
            <a:off x="3221360" y="1341995"/>
            <a:ext cx="302244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CN" sz="2800" dirty="0">
                <a:latin typeface="Consolas" panose="020B0609020204030204" pitchFamily="49" charset="0"/>
                <a:ea typeface="冬青黑体简体中文 W3" pitchFamily="2" charset="-122"/>
              </a:rPr>
              <a:t>epoll_create1</a:t>
            </a:r>
          </a:p>
          <a:p>
            <a:pPr fontAlgn="base"/>
            <a:r>
              <a:rPr lang="en-US" altLang="zh-CN" sz="2800" dirty="0" err="1">
                <a:latin typeface="Consolas" panose="020B0609020204030204" pitchFamily="49" charset="0"/>
                <a:ea typeface="冬青黑体简体中文 W3" pitchFamily="2" charset="-122"/>
              </a:rPr>
              <a:t>epoll_ctl</a:t>
            </a:r>
            <a:endParaRPr lang="en-US" altLang="zh-CN" sz="2800" dirty="0">
              <a:latin typeface="Consolas" panose="020B0609020204030204" pitchFamily="49" charset="0"/>
              <a:ea typeface="冬青黑体简体中文 W3" pitchFamily="2" charset="-122"/>
            </a:endParaRPr>
          </a:p>
          <a:p>
            <a:pPr fontAlgn="base"/>
            <a:r>
              <a:rPr lang="en-US" altLang="zh-CN" sz="2800" dirty="0" err="1">
                <a:latin typeface="Consolas" panose="020B0609020204030204" pitchFamily="49" charset="0"/>
                <a:ea typeface="冬青黑体简体中文 W3" pitchFamily="2" charset="-122"/>
              </a:rPr>
              <a:t>epoll_pwait</a:t>
            </a:r>
            <a:endParaRPr lang="en-US" altLang="zh-CN" sz="2800" dirty="0">
              <a:latin typeface="Consolas" panose="020B0609020204030204" pitchFamily="49" charset="0"/>
              <a:ea typeface="冬青黑体简体中文 W3" pitchFamily="2" charset="-122"/>
            </a:endParaRPr>
          </a:p>
          <a:p>
            <a:pPr fontAlgn="base"/>
            <a:r>
              <a:rPr lang="en-US" altLang="zh-CN" sz="2800" dirty="0">
                <a:latin typeface="Consolas" panose="020B0609020204030204" pitchFamily="49" charset="0"/>
                <a:ea typeface="冬青黑体简体中文 W3" pitchFamily="2" charset="-122"/>
              </a:rPr>
              <a:t>epoll_pwait2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CE2681-D49C-2CDE-64B2-DCDB3BEE201A}"/>
              </a:ext>
            </a:extLst>
          </p:cNvPr>
          <p:cNvSpPr/>
          <p:nvPr/>
        </p:nvSpPr>
        <p:spPr>
          <a:xfrm>
            <a:off x="6591143" y="1886698"/>
            <a:ext cx="47642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⚠️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sigsetsize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检查与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 ABI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不一致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2F800C-C0AC-5AEB-3EC4-9073C040FA0E}"/>
              </a:ext>
            </a:extLst>
          </p:cNvPr>
          <p:cNvSpPr/>
          <p:nvPr/>
        </p:nvSpPr>
        <p:spPr>
          <a:xfrm>
            <a:off x="835020" y="4085431"/>
            <a:ext cx="1987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文件同步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A3FDB1-1640-05A2-B669-6FC1E7E15BBC}"/>
              </a:ext>
            </a:extLst>
          </p:cNvPr>
          <p:cNvSpPr/>
          <p:nvPr/>
        </p:nvSpPr>
        <p:spPr>
          <a:xfrm>
            <a:off x="835020" y="1825143"/>
            <a:ext cx="18256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事件复用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424" y="1372662"/>
            <a:ext cx="3657124" cy="120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rPr sz="7199"/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425" y="2926939"/>
            <a:ext cx="10057090" cy="73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方案二：Linux 应用适配与测试框架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方案二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en-US" sz="3200" dirty="0"/>
              <a:t>A</a:t>
            </a:r>
            <a:r>
              <a:rPr lang="en-US" altLang="zh-CN" sz="3200" dirty="0"/>
              <a:t>pps </a:t>
            </a:r>
            <a:r>
              <a:rPr sz="3200" dirty="0" err="1"/>
              <a:t>测试框架</a:t>
            </a:r>
            <a:endParaRPr sz="3200" dirty="0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7EA0E1CF-8BC8-67F2-D7A7-F85F14AAA280}"/>
              </a:ext>
            </a:extLst>
          </p:cNvPr>
          <p:cNvSpPr/>
          <p:nvPr/>
        </p:nvSpPr>
        <p:spPr>
          <a:xfrm>
            <a:off x="2400077" y="1296302"/>
            <a:ext cx="1751806" cy="31646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SMOKE</a:t>
            </a:r>
            <a:endParaRPr lang="zh-CN" altLang="en-US" sz="2800" b="1" dirty="0"/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41104A02-3242-6B31-A0A7-74A9E2F00A74}"/>
              </a:ext>
            </a:extLst>
          </p:cNvPr>
          <p:cNvSpPr/>
          <p:nvPr/>
        </p:nvSpPr>
        <p:spPr>
          <a:xfrm>
            <a:off x="5154066" y="1302717"/>
            <a:ext cx="1751806" cy="31582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PHASE</a:t>
            </a:r>
            <a:endParaRPr lang="zh-CN" altLang="en-US" sz="2800" b="1" dirty="0"/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155B3C29-2E43-3D1E-8E3C-E13F7F506A45}"/>
              </a:ext>
            </a:extLst>
          </p:cNvPr>
          <p:cNvSpPr/>
          <p:nvPr/>
        </p:nvSpPr>
        <p:spPr>
          <a:xfrm>
            <a:off x="7908055" y="1321421"/>
            <a:ext cx="1751806" cy="313952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STRESS</a:t>
            </a:r>
            <a:endParaRPr lang="zh-CN" altLang="en-US" sz="2800" b="1" dirty="0"/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447ECE99-CFC7-71FB-6C7D-186D0C43E658}"/>
              </a:ext>
            </a:extLst>
          </p:cNvPr>
          <p:cNvSpPr/>
          <p:nvPr/>
        </p:nvSpPr>
        <p:spPr>
          <a:xfrm>
            <a:off x="2352751" y="4749622"/>
            <a:ext cx="7307109" cy="111932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DEBUG</a:t>
            </a:r>
            <a:endParaRPr lang="zh-CN" altLang="en-US" sz="2800" b="1" dirty="0"/>
          </a:p>
        </p:txBody>
      </p:sp>
      <p:sp>
        <p:nvSpPr>
          <p:cNvPr id="162" name="箭头: 右 161">
            <a:extLst>
              <a:ext uri="{FF2B5EF4-FFF2-40B4-BE49-F238E27FC236}">
                <a16:creationId xmlns:a16="http://schemas.microsoft.com/office/drawing/2014/main" id="{C506E213-82F1-08B3-7D24-7122B15822CD}"/>
              </a:ext>
            </a:extLst>
          </p:cNvPr>
          <p:cNvSpPr/>
          <p:nvPr/>
        </p:nvSpPr>
        <p:spPr>
          <a:xfrm>
            <a:off x="4275003" y="2641539"/>
            <a:ext cx="755943" cy="47417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箭头: 右 162">
            <a:extLst>
              <a:ext uri="{FF2B5EF4-FFF2-40B4-BE49-F238E27FC236}">
                <a16:creationId xmlns:a16="http://schemas.microsoft.com/office/drawing/2014/main" id="{E15D7E54-A1F5-C614-7560-B034B6810D81}"/>
              </a:ext>
            </a:extLst>
          </p:cNvPr>
          <p:cNvSpPr/>
          <p:nvPr/>
        </p:nvSpPr>
        <p:spPr>
          <a:xfrm>
            <a:off x="7020084" y="2641539"/>
            <a:ext cx="755943" cy="47417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方案二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en-US" sz="3200" dirty="0"/>
              <a:t>Nginx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281E6265-B50E-7918-6DEE-713954F24C33}"/>
              </a:ext>
            </a:extLst>
          </p:cNvPr>
          <p:cNvSpPr txBox="1"/>
          <p:nvPr/>
        </p:nvSpPr>
        <p:spPr>
          <a:xfrm>
            <a:off x="548568" y="995006"/>
            <a:ext cx="4061563" cy="5332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smoke	nginx-smoke-tests.sh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nginx-0-0-env-rlimit-tests.sh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nginx-1-2-lifecycle-tests.sh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nginx-1-3-lifecycle-tests.sh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nginx-2-0-http-basic-tests.sh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nginx-3-1-short-connection-tests.sh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nginx-3-2-keepalive-tests.sh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nginx-3-3-slow-header-tests.sh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nginx-4-1-sendfile-off-tests.sh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nginx-4-2-sendfile-on-tests.sh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nginx-4-3-range-tests.sh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nginx-5-0-request-body-tests.sh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nginx-6-0-log-fs-tests.sh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nginx-7-0-signal-lifecycle-tests.sh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nginx-9-0-config-feature-tests.sh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stress	nginx-stress-s0-baseline.sh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stress	nginx-stress-s1-short-conn.sh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stress	nginx-stress-s2-keepalive.sh</a:t>
            </a:r>
            <a:endParaRPr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992BCD-B209-F9AC-1BC9-B6F5FEA04629}"/>
              </a:ext>
            </a:extLst>
          </p:cNvPr>
          <p:cNvSpPr txBox="1"/>
          <p:nvPr/>
        </p:nvSpPr>
        <p:spPr>
          <a:xfrm>
            <a:off x="4933156" y="1504570"/>
            <a:ext cx="6096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b="1" dirty="0"/>
              <a:t>多 </a:t>
            </a:r>
            <a:r>
              <a:rPr lang="en-US" altLang="zh-CN" sz="1800" b="1" dirty="0"/>
              <a:t>worker </a:t>
            </a:r>
            <a:r>
              <a:rPr lang="zh-CN" altLang="en-US" sz="1800" b="1" dirty="0"/>
              <a:t>卡死</a:t>
            </a:r>
            <a:endParaRPr lang="en-US" altLang="zh-CN" sz="1800" b="1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en-US" altLang="zh-CN" sz="1800" dirty="0" err="1"/>
              <a:t>send_signal</a:t>
            </a:r>
            <a:r>
              <a:rPr lang="en-US" altLang="zh-CN" sz="1800" dirty="0"/>
              <a:t> / </a:t>
            </a:r>
            <a:r>
              <a:rPr lang="en-US" altLang="zh-CN" sz="1800" dirty="0" err="1"/>
              <a:t>task.interrupt</a:t>
            </a:r>
            <a:r>
              <a:rPr lang="en-US" altLang="zh-CN" sz="1800" dirty="0"/>
              <a:t>() </a:t>
            </a:r>
            <a:r>
              <a:rPr lang="zh-CN" altLang="en-US" sz="1800" dirty="0"/>
              <a:t>改进 </a:t>
            </a:r>
            <a:r>
              <a:rPr lang="en-US" altLang="zh-CN" sz="1800" dirty="0"/>
              <a:t>+ EPOLLEXCLUSIVE </a:t>
            </a:r>
            <a:r>
              <a:rPr lang="zh-CN" altLang="en-US" sz="1800" dirty="0"/>
              <a:t>合法化</a:t>
            </a:r>
            <a:endParaRPr lang="en-US" altLang="zh-CN" sz="1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FC087B8-7076-A7FF-5B6F-A52DB00FBF75}"/>
              </a:ext>
            </a:extLst>
          </p:cNvPr>
          <p:cNvSpPr txBox="1"/>
          <p:nvPr/>
        </p:nvSpPr>
        <p:spPr>
          <a:xfrm>
            <a:off x="4933156" y="2471045"/>
            <a:ext cx="6096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en-US" altLang="zh-CN" sz="1800" b="1" dirty="0"/>
              <a:t>x86_64 </a:t>
            </a:r>
            <a:r>
              <a:rPr lang="zh-CN" altLang="en-US" sz="1800" b="1" dirty="0"/>
              <a:t>短连接超时</a:t>
            </a:r>
            <a:endParaRPr lang="en-US" altLang="zh-CN" sz="1800" b="1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dirty="0"/>
              <a:t>分段计时定位：瓶颈在 </a:t>
            </a:r>
            <a:r>
              <a:rPr lang="en-US" altLang="zh-CN" sz="1800" dirty="0"/>
              <a:t>curl </a:t>
            </a:r>
            <a:r>
              <a:rPr lang="zh-CN" altLang="en-US" sz="1800" dirty="0"/>
              <a:t>进程启动</a:t>
            </a:r>
            <a:r>
              <a:rPr lang="en-US" altLang="zh-CN" sz="1800" dirty="0"/>
              <a:t>(1-3s)</a:t>
            </a:r>
            <a:r>
              <a:rPr lang="zh-CN" altLang="en-US" sz="1800" dirty="0"/>
              <a:t>，非 </a:t>
            </a:r>
            <a:r>
              <a:rPr lang="en-US" altLang="zh-CN" sz="1800" dirty="0"/>
              <a:t>Nginx </a:t>
            </a:r>
            <a:r>
              <a:rPr lang="zh-CN" altLang="en-US" sz="1800" dirty="0"/>
              <a:t>响应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2826F35-0459-57EE-C53B-F5109689BF92}"/>
              </a:ext>
            </a:extLst>
          </p:cNvPr>
          <p:cNvSpPr txBox="1"/>
          <p:nvPr/>
        </p:nvSpPr>
        <p:spPr>
          <a:xfrm>
            <a:off x="4933156" y="3453958"/>
            <a:ext cx="6096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b="1" dirty="0"/>
              <a:t>稳定性改进</a:t>
            </a:r>
            <a:endParaRPr lang="en-US" altLang="zh-CN" sz="1800" b="1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dirty="0"/>
              <a:t>固定 </a:t>
            </a:r>
            <a:r>
              <a:rPr lang="en-US" altLang="zh-CN" sz="1800" dirty="0"/>
              <a:t>APK </a:t>
            </a:r>
            <a:r>
              <a:rPr lang="zh-CN" altLang="en-US" sz="1800" dirty="0"/>
              <a:t>镜像版本 </a:t>
            </a:r>
            <a:r>
              <a:rPr lang="en-US" altLang="zh-CN" sz="1800" dirty="0"/>
              <a:t>/ </a:t>
            </a:r>
            <a:r>
              <a:rPr lang="zh-CN" altLang="en-US" sz="1800" dirty="0"/>
              <a:t>动态启动路径统一 </a:t>
            </a:r>
            <a:r>
              <a:rPr lang="en-US" altLang="zh-CN" sz="1800" dirty="0"/>
              <a:t>/ QEMU </a:t>
            </a:r>
            <a:r>
              <a:rPr lang="zh-CN" altLang="en-US" sz="1800" dirty="0"/>
              <a:t>配置分层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4ACA42-A45A-EFB5-6E78-F03B104D1440}"/>
              </a:ext>
            </a:extLst>
          </p:cNvPr>
          <p:cNvSpPr txBox="1"/>
          <p:nvPr/>
        </p:nvSpPr>
        <p:spPr>
          <a:xfrm>
            <a:off x="4933155" y="789912"/>
            <a:ext cx="24365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600" b="1" dirty="0">
                <a:solidFill>
                  <a:srgbClr val="2D2D2D"/>
                </a:solidFill>
                <a:ea typeface="微软雅黑" panose="020B0503020204020204" pitchFamily="34" charset="-122"/>
              </a:rPr>
              <a:t>关键问题定位 </a:t>
            </a:r>
            <a:r>
              <a:rPr lang="en-US" altLang="zh-CN" sz="1600" b="1" dirty="0">
                <a:solidFill>
                  <a:srgbClr val="2D2D2D"/>
                </a:solidFill>
                <a:ea typeface="微软雅黑" panose="020B0503020204020204" pitchFamily="34" charset="-122"/>
              </a:rPr>
              <a:t>&amp; </a:t>
            </a:r>
            <a:r>
              <a:rPr lang="zh-CN" altLang="en-US" sz="1600" b="1" dirty="0">
                <a:solidFill>
                  <a:srgbClr val="2D2D2D"/>
                </a:solidFill>
                <a:ea typeface="微软雅黑" panose="020B0503020204020204" pitchFamily="34" charset="-122"/>
              </a:rPr>
              <a:t>修复：</a:t>
            </a:r>
          </a:p>
        </p:txBody>
      </p:sp>
    </p:spTree>
    <p:extLst>
      <p:ext uri="{BB962C8B-B14F-4D97-AF65-F5344CB8AC3E}">
        <p14:creationId xmlns:p14="http://schemas.microsoft.com/office/powerpoint/2010/main" val="157680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方案二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en-US" sz="3200" dirty="0"/>
              <a:t>Apache</a:t>
            </a:r>
            <a:endParaRPr sz="3200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281E6265-B50E-7918-6DEE-713954F24C33}"/>
              </a:ext>
            </a:extLst>
          </p:cNvPr>
          <p:cNvSpPr txBox="1"/>
          <p:nvPr/>
        </p:nvSpPr>
        <p:spPr>
          <a:xfrm>
            <a:off x="548568" y="1211133"/>
            <a:ext cx="425838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smoke	apache-smoke-tests.sh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apache-2-0-mpm-prefork-tests.sh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apache-3-0-http-static-tests.sh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apache-4-0-directory-access-tests.sh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apache-5-0-log-lifecycle-tests.sh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apache-5-5-sendfile-range-tests.sh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apache-7-0-cgi-tests.sh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phase	apache-8-0-module-feature-tests.sh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rPr lang="en-US" sz="1600" dirty="0"/>
              <a:t>stress	---</a:t>
            </a:r>
            <a:endParaRPr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2826F35-0459-57EE-C53B-F5109689BF92}"/>
              </a:ext>
            </a:extLst>
          </p:cNvPr>
          <p:cNvSpPr txBox="1"/>
          <p:nvPr/>
        </p:nvSpPr>
        <p:spPr>
          <a:xfrm>
            <a:off x="4933156" y="3239405"/>
            <a:ext cx="6096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b="1" dirty="0"/>
              <a:t>稳定性改进</a:t>
            </a:r>
            <a:endParaRPr lang="en-US" altLang="zh-CN" sz="1800" b="1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dirty="0"/>
              <a:t>固定 </a:t>
            </a:r>
            <a:r>
              <a:rPr lang="en-US" altLang="zh-CN" sz="1800" dirty="0"/>
              <a:t>APK </a:t>
            </a:r>
            <a:r>
              <a:rPr lang="zh-CN" altLang="en-US" sz="1800" dirty="0"/>
              <a:t>镜像版本 </a:t>
            </a:r>
            <a:r>
              <a:rPr lang="en-US" altLang="zh-CN" sz="1800" dirty="0"/>
              <a:t>/ </a:t>
            </a:r>
            <a:r>
              <a:rPr lang="zh-CN" altLang="en-US" sz="1800" dirty="0"/>
              <a:t>动态启动路径统一 </a:t>
            </a:r>
            <a:r>
              <a:rPr lang="en-US" altLang="zh-CN" sz="1800" dirty="0"/>
              <a:t>/ QEMU </a:t>
            </a:r>
            <a:r>
              <a:rPr lang="zh-CN" altLang="en-US" sz="1800" dirty="0"/>
              <a:t>配置分层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03971C-EB68-5187-E1B9-6CDCFCC94647}"/>
              </a:ext>
            </a:extLst>
          </p:cNvPr>
          <p:cNvSpPr txBox="1"/>
          <p:nvPr/>
        </p:nvSpPr>
        <p:spPr>
          <a:xfrm>
            <a:off x="4933156" y="789912"/>
            <a:ext cx="2114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600" b="1" dirty="0">
                <a:solidFill>
                  <a:srgbClr val="2D2D2D"/>
                </a:solidFill>
                <a:ea typeface="微软雅黑" panose="020B0503020204020204" pitchFamily="34" charset="-122"/>
              </a:rPr>
              <a:t>关键问题定位 </a:t>
            </a:r>
            <a:r>
              <a:rPr lang="en-US" altLang="zh-CN" sz="1600" b="1" dirty="0">
                <a:solidFill>
                  <a:srgbClr val="2D2D2D"/>
                </a:solidFill>
                <a:ea typeface="微软雅黑" panose="020B0503020204020204" pitchFamily="34" charset="-122"/>
              </a:rPr>
              <a:t>&amp; </a:t>
            </a:r>
            <a:r>
              <a:rPr lang="zh-CN" altLang="en-US" sz="1600" b="1" dirty="0">
                <a:solidFill>
                  <a:srgbClr val="2D2D2D"/>
                </a:solidFill>
                <a:ea typeface="微软雅黑" panose="020B0503020204020204" pitchFamily="34" charset="-122"/>
              </a:rPr>
              <a:t>修复：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90EA50-DF1A-4CEF-6C26-EEA017B5D3CF}"/>
              </a:ext>
            </a:extLst>
          </p:cNvPr>
          <p:cNvSpPr txBox="1"/>
          <p:nvPr/>
        </p:nvSpPr>
        <p:spPr>
          <a:xfrm>
            <a:off x="4933156" y="2515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dirty="0"/>
              <a:t>调试工具集：</a:t>
            </a:r>
            <a:r>
              <a:rPr lang="en-US" altLang="zh-CN" sz="1800" dirty="0"/>
              <a:t>15 </a:t>
            </a:r>
            <a:r>
              <a:rPr lang="zh-CN" altLang="en-US" sz="1800" dirty="0"/>
              <a:t>个 </a:t>
            </a:r>
            <a:r>
              <a:rPr lang="en-US" altLang="zh-CN" sz="1800" dirty="0"/>
              <a:t>debug </a:t>
            </a:r>
            <a:r>
              <a:rPr lang="zh-CN" altLang="en-US" sz="1800" dirty="0"/>
              <a:t>探针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B51989-C815-EDC1-E4FF-81588BFAA6A3}"/>
              </a:ext>
            </a:extLst>
          </p:cNvPr>
          <p:cNvSpPr txBox="1"/>
          <p:nvPr/>
        </p:nvSpPr>
        <p:spPr>
          <a:xfrm>
            <a:off x="4933156" y="15140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lang="zh-CN" altLang="en-US" sz="1800" dirty="0">
                <a:solidFill>
                  <a:srgbClr val="2D2D2D"/>
                </a:solidFill>
              </a:rPr>
              <a:t>关键问题定位：</a:t>
            </a:r>
            <a:r>
              <a:rPr lang="en-US" altLang="zh-CN" sz="1800" dirty="0">
                <a:solidFill>
                  <a:srgbClr val="2D2D2D"/>
                </a:solidFill>
              </a:rPr>
              <a:t>TCP_DEFER_ACCEPT </a:t>
            </a:r>
            <a:r>
              <a:rPr lang="zh-CN" altLang="en-US" sz="1800" dirty="0">
                <a:solidFill>
                  <a:srgbClr val="2D2D2D"/>
                </a:solidFill>
              </a:rPr>
              <a:t>失败为警告而非错误 → </a:t>
            </a:r>
            <a:r>
              <a:rPr lang="en-US" altLang="zh-CN" sz="1800" dirty="0">
                <a:solidFill>
                  <a:srgbClr val="2D2D2D"/>
                </a:solidFill>
              </a:rPr>
              <a:t>C </a:t>
            </a:r>
            <a:r>
              <a:rPr lang="zh-CN" altLang="en-US" sz="1800" dirty="0">
                <a:solidFill>
                  <a:srgbClr val="2D2D2D"/>
                </a:solidFill>
              </a:rPr>
              <a:t>探针验证 → </a:t>
            </a:r>
            <a:r>
              <a:rPr lang="en-US" altLang="zh-CN" sz="1800" dirty="0">
                <a:solidFill>
                  <a:srgbClr val="2D2D2D"/>
                </a:solidFill>
              </a:rPr>
              <a:t>smoke </a:t>
            </a:r>
            <a:r>
              <a:rPr lang="zh-CN" altLang="en-US" sz="1800" dirty="0">
                <a:solidFill>
                  <a:srgbClr val="2D2D2D"/>
                </a:solidFill>
              </a:rPr>
              <a:t>策略收敛</a:t>
            </a:r>
          </a:p>
        </p:txBody>
      </p:sp>
    </p:spTree>
    <p:extLst>
      <p:ext uri="{BB962C8B-B14F-4D97-AF65-F5344CB8AC3E}">
        <p14:creationId xmlns:p14="http://schemas.microsoft.com/office/powerpoint/2010/main" val="174689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424" y="1372662"/>
            <a:ext cx="3657124" cy="120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rPr sz="7199"/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425" y="2926939"/>
            <a:ext cx="10057090" cy="73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方案三：网络性能优化与 OS 功能赛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方案三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3200" dirty="0"/>
              <a:t>proj57 · ACT </a:t>
            </a:r>
            <a:r>
              <a:rPr sz="3200" dirty="0" err="1"/>
              <a:t>推理</a:t>
            </a:r>
            <a:r>
              <a:rPr sz="3200" dirty="0"/>
              <a:t> (QEMU + RK3588)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568" y="1464090"/>
          <a:ext cx="10971370" cy="127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99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阶段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平台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推理引擎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关键指标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状态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QEMU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riscv64 + musl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tract (ONNX CPU)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推理 ~25.2s, golden 通过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完成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RK3588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Orange Pi 5 Plus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RKNPU2 NPU (FFI)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推理 29.4ms, golden 通过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完成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SG2002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荔枝派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CVITEK TPU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待申请开发板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计划中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568" y="2469800"/>
          <a:ext cx="10971370" cy="1919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99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阶段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Linux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StarryOS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Starry/Linux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endParaRPr sz="1200"/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模型加载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106.6 ms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778.9 ms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7.30x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瓶颈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预处理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60.0 ms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91.1 ms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1.52x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 sz="1200"/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inputs_set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/>
                        <a:t>6.0 </a:t>
                      </a:r>
                      <a:r>
                        <a:rPr sz="1200" dirty="0" err="1"/>
                        <a:t>ms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12.3 ms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2.07x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 sz="120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NPU 执行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/>
                        <a:t>15.7 </a:t>
                      </a:r>
                      <a:r>
                        <a:rPr sz="1200" dirty="0" err="1"/>
                        <a:t>ms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13.9 ms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0.88x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Starry 更快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端到端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/>
                        <a:t>21.9 </a:t>
                      </a:r>
                      <a:r>
                        <a:rPr sz="1200" dirty="0" err="1"/>
                        <a:t>ms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29.4 ms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1.34x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424" y="4572645"/>
            <a:ext cx="10514231" cy="118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技术要点：ONNX</a:t>
            </a:r>
            <a:r>
              <a:rPr sz="1400" dirty="0"/>
              <a:t> → RKNN </a:t>
            </a:r>
            <a:r>
              <a:rPr sz="1400" dirty="0" err="1"/>
              <a:t>转换</a:t>
            </a:r>
            <a:r>
              <a:rPr sz="1400" dirty="0"/>
              <a:t> / </a:t>
            </a:r>
            <a:r>
              <a:rPr sz="1400" dirty="0" err="1"/>
              <a:t>glibc-musl</a:t>
            </a:r>
            <a:r>
              <a:rPr sz="1400" dirty="0"/>
              <a:t> </a:t>
            </a:r>
            <a:r>
              <a:rPr sz="1400" dirty="0" err="1"/>
              <a:t>兼容</a:t>
            </a:r>
            <a:r>
              <a:rPr sz="1400" dirty="0"/>
              <a:t> / </a:t>
            </a:r>
            <a:r>
              <a:rPr sz="1400" dirty="0" err="1"/>
              <a:t>分阶段计时</a:t>
            </a:r>
            <a:r>
              <a:rPr sz="1400" dirty="0"/>
              <a:t> / </a:t>
            </a:r>
            <a:r>
              <a:rPr sz="1400" dirty="0" err="1"/>
              <a:t>多核</a:t>
            </a:r>
            <a:r>
              <a:rPr sz="1400" dirty="0"/>
              <a:t> NPU </a:t>
            </a:r>
            <a:r>
              <a:rPr sz="1400" dirty="0" err="1"/>
              <a:t>策略</a:t>
            </a:r>
            <a:endParaRPr sz="1400" dirty="0"/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镜像构建固化：overlay</a:t>
            </a:r>
            <a:r>
              <a:rPr sz="1400" dirty="0"/>
              <a:t> </a:t>
            </a:r>
            <a:r>
              <a:rPr sz="1400" dirty="0" err="1"/>
              <a:t>rootfs</a:t>
            </a:r>
            <a:r>
              <a:rPr sz="1400" dirty="0"/>
              <a:t> → </a:t>
            </a:r>
            <a:r>
              <a:rPr sz="1400" dirty="0" err="1"/>
              <a:t>官方</a:t>
            </a:r>
            <a:r>
              <a:rPr sz="1400" dirty="0"/>
              <a:t> DTB → FIT repack → </a:t>
            </a:r>
            <a:r>
              <a:rPr sz="1400" dirty="0" err="1"/>
              <a:t>局部更新脚本</a:t>
            </a:r>
            <a:endParaRPr sz="1400" dirty="0"/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结论：NPU</a:t>
            </a:r>
            <a:r>
              <a:rPr sz="1400" dirty="0"/>
              <a:t> </a:t>
            </a:r>
            <a:r>
              <a:rPr sz="1400" dirty="0" err="1"/>
              <a:t>执行阶段</a:t>
            </a:r>
            <a:r>
              <a:rPr sz="1400" dirty="0"/>
              <a:t> </a:t>
            </a:r>
            <a:r>
              <a:rPr sz="1400" dirty="0" err="1"/>
              <a:t>StarryOS</a:t>
            </a:r>
            <a:r>
              <a:rPr sz="1400" dirty="0"/>
              <a:t> </a:t>
            </a:r>
            <a:r>
              <a:rPr sz="1400" dirty="0" err="1"/>
              <a:t>已优于</a:t>
            </a:r>
            <a:r>
              <a:rPr sz="1400" dirty="0"/>
              <a:t> Linux (all cores)；</a:t>
            </a:r>
            <a:r>
              <a:rPr sz="1400" dirty="0" err="1"/>
              <a:t>瓶颈在模型加载与预处理</a:t>
            </a:r>
            <a:endParaRPr sz="1400" dirty="0"/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/>
              <a:t>分支：proj57 (</a:t>
            </a:r>
            <a:r>
              <a:rPr lang="zh-CN" altLang="en-US" sz="1400" dirty="0"/>
              <a:t>仅赛题，</a:t>
            </a:r>
            <a:r>
              <a:rPr sz="1400" dirty="0" err="1"/>
              <a:t>未合并</a:t>
            </a:r>
            <a:r>
              <a:rPr sz="1400" dirty="0"/>
              <a:t>)</a:t>
            </a:r>
            <a:r>
              <a:rPr lang="en-US" sz="140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7F298EF-9E83-26A0-5B4A-B1BE9E5AE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89" y="136365"/>
            <a:ext cx="10098033" cy="65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8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方案三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网络性能测试方案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(net-bench)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568" y="1464090"/>
          <a:ext cx="10971372" cy="127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99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测试拓扑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说明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适用场景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 err="1"/>
                        <a:t>vhost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TAP + vhost-net, KVM 加速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主力性能测试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tap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TAP without vhost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降级方案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slirp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QEMU usermode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 err="1"/>
                        <a:t>功能冒烟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568" y="2469800"/>
          <a:ext cx="10971372" cy="1919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99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测试维度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内容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关注点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tcp1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TCP 单流上行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单连接发送吞吐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tcp4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TCP 4 并发流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并发锁竞争与调度开销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/>
                        <a:t>tcp1r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TCP 单流下行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接收路径吞吐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udp1g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UDP 大包 1Gbps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无连接大包吞吐/丢包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udp64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UDP 64B 小包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/>
                        <a:t>PPS </a:t>
                      </a:r>
                      <a:r>
                        <a:rPr sz="1200" dirty="0" err="1"/>
                        <a:t>极限，每包固定开销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424" y="4572645"/>
            <a:ext cx="10514231" cy="118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环境自适应：自动检测平台</a:t>
            </a:r>
            <a:r>
              <a:rPr sz="1400" dirty="0"/>
              <a:t>/</a:t>
            </a:r>
            <a:r>
              <a:rPr sz="1400" dirty="0" err="1"/>
              <a:t>架构</a:t>
            </a:r>
            <a:r>
              <a:rPr sz="1400" dirty="0"/>
              <a:t>/KVM/</a:t>
            </a:r>
            <a:r>
              <a:rPr sz="1400" dirty="0" err="1"/>
              <a:t>vhost</a:t>
            </a:r>
            <a:r>
              <a:rPr sz="1400" dirty="0"/>
              <a:t>-net </a:t>
            </a:r>
            <a:r>
              <a:rPr sz="1400" dirty="0" err="1"/>
              <a:t>可用性</a:t>
            </a:r>
            <a:endParaRPr sz="1400" dirty="0"/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全流程自动化：环境配置</a:t>
            </a:r>
            <a:r>
              <a:rPr sz="1400" dirty="0"/>
              <a:t> → iperf3 </a:t>
            </a:r>
            <a:r>
              <a:rPr sz="1400" dirty="0" err="1"/>
              <a:t>测试</a:t>
            </a:r>
            <a:r>
              <a:rPr sz="1400" dirty="0"/>
              <a:t> → </a:t>
            </a:r>
            <a:r>
              <a:rPr sz="1400" dirty="0" err="1"/>
              <a:t>结果汇总</a:t>
            </a:r>
            <a:r>
              <a:rPr sz="1400" dirty="0"/>
              <a:t>(mean/</a:t>
            </a:r>
            <a:r>
              <a:rPr sz="1400" dirty="0" err="1"/>
              <a:t>stddev</a:t>
            </a:r>
            <a:r>
              <a:rPr sz="1400" dirty="0"/>
              <a:t>) → </a:t>
            </a:r>
            <a:r>
              <a:rPr sz="1400" dirty="0" err="1"/>
              <a:t>资源清理</a:t>
            </a:r>
            <a:endParaRPr sz="1400" dirty="0"/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eBPF</a:t>
            </a:r>
            <a:r>
              <a:rPr sz="1400" dirty="0"/>
              <a:t> </a:t>
            </a:r>
            <a:r>
              <a:rPr sz="1400" dirty="0" err="1"/>
              <a:t>net_stats</a:t>
            </a:r>
            <a:r>
              <a:rPr sz="1400" dirty="0"/>
              <a:t> </a:t>
            </a:r>
            <a:r>
              <a:rPr sz="1400" dirty="0" err="1"/>
              <a:t>观测：kprobe</a:t>
            </a:r>
            <a:r>
              <a:rPr sz="1400" dirty="0"/>
              <a:t>/</a:t>
            </a:r>
            <a:r>
              <a:rPr sz="1400" dirty="0" err="1"/>
              <a:t>kretprobe</a:t>
            </a:r>
            <a:r>
              <a:rPr sz="1400" dirty="0"/>
              <a:t> </a:t>
            </a:r>
            <a:r>
              <a:rPr sz="1400" dirty="0" err="1"/>
              <a:t>探针，协议栈内部收发统计</a:t>
            </a:r>
            <a:endParaRPr sz="1400" dirty="0"/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sz="1400" dirty="0" err="1"/>
              <a:t>分支：feat</a:t>
            </a:r>
            <a:r>
              <a:rPr sz="1400" dirty="0"/>
              <a:t>/net-enhance (</a:t>
            </a:r>
            <a:r>
              <a:rPr sz="1400" dirty="0" err="1"/>
              <a:t>未合并</a:t>
            </a:r>
            <a:r>
              <a:rPr sz="1400" dirty="0"/>
              <a:t>)</a:t>
            </a:r>
            <a:r>
              <a:rPr lang="en-US" sz="140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2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方案三 </a:t>
            </a:r>
            <a:r>
              <a:rPr lang="en-US" altLang="zh-CN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net-bench </a:t>
            </a:r>
            <a:r>
              <a:rPr lang="zh-CN" altLang="en-US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设计：三种拓扑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39E28D2-D185-68BC-EE0D-539699FACB68}"/>
              </a:ext>
            </a:extLst>
          </p:cNvPr>
          <p:cNvSpPr/>
          <p:nvPr/>
        </p:nvSpPr>
        <p:spPr>
          <a:xfrm>
            <a:off x="300487" y="2627227"/>
            <a:ext cx="1751806" cy="12766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TAP</a:t>
            </a:r>
            <a:endParaRPr lang="zh-CN" altLang="en-US" sz="2800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D6D3152-8A6C-7F2E-2CE6-D3E102F0FC31}"/>
              </a:ext>
            </a:extLst>
          </p:cNvPr>
          <p:cNvSpPr/>
          <p:nvPr/>
        </p:nvSpPr>
        <p:spPr>
          <a:xfrm>
            <a:off x="300487" y="1262441"/>
            <a:ext cx="1751806" cy="12766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SLIRP</a:t>
            </a:r>
            <a:endParaRPr lang="zh-CN" altLang="en-US" sz="2800" b="1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E57E13-B9E5-72DD-3286-B986A2591A74}"/>
              </a:ext>
            </a:extLst>
          </p:cNvPr>
          <p:cNvSpPr/>
          <p:nvPr/>
        </p:nvSpPr>
        <p:spPr>
          <a:xfrm>
            <a:off x="300487" y="3992013"/>
            <a:ext cx="1751806" cy="128938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VHOST</a:t>
            </a:r>
            <a:endParaRPr lang="zh-CN" altLang="en-US" sz="2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DFAD07-6AAC-458A-EC0B-B74E5DE44168}"/>
              </a:ext>
            </a:extLst>
          </p:cNvPr>
          <p:cNvSpPr txBox="1"/>
          <p:nvPr/>
        </p:nvSpPr>
        <p:spPr>
          <a:xfrm>
            <a:off x="2221352" y="2803882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微软雅黑" panose="020B0503020204020204" pitchFamily="34" charset="-122"/>
              </a:rPr>
              <a:t>QEMU </a:t>
            </a:r>
            <a:r>
              <a:rPr lang="zh-CN" altLang="en-US" dirty="0">
                <a:ea typeface="微软雅黑" panose="020B0503020204020204" pitchFamily="34" charset="-122"/>
              </a:rPr>
              <a:t>为每个 </a:t>
            </a:r>
            <a:r>
              <a:rPr lang="en-US" altLang="zh-CN" dirty="0">
                <a:ea typeface="微软雅黑" panose="020B0503020204020204" pitchFamily="34" charset="-122"/>
              </a:rPr>
              <a:t>guest </a:t>
            </a:r>
            <a:r>
              <a:rPr lang="zh-CN" altLang="en-US" dirty="0">
                <a:ea typeface="微软雅黑" panose="020B0503020204020204" pitchFamily="34" charset="-122"/>
              </a:rPr>
              <a:t>创建一个 </a:t>
            </a:r>
            <a:r>
              <a:rPr lang="en-US" altLang="zh-CN" dirty="0">
                <a:ea typeface="微软雅黑" panose="020B0503020204020204" pitchFamily="34" charset="-122"/>
              </a:rPr>
              <a:t>tap </a:t>
            </a:r>
            <a:r>
              <a:rPr lang="zh-CN" altLang="en-US" dirty="0">
                <a:ea typeface="微软雅黑" panose="020B0503020204020204" pitchFamily="34" charset="-122"/>
              </a:rPr>
              <a:t>设备，直接向这个 </a:t>
            </a:r>
            <a:r>
              <a:rPr lang="en-US" altLang="zh-CN" dirty="0">
                <a:ea typeface="微软雅黑" panose="020B0503020204020204" pitchFamily="34" charset="-122"/>
              </a:rPr>
              <a:t>tap </a:t>
            </a:r>
            <a:r>
              <a:rPr lang="zh-CN" altLang="en-US" dirty="0">
                <a:ea typeface="微软雅黑" panose="020B0503020204020204" pitchFamily="34" charset="-122"/>
              </a:rPr>
              <a:t>设备收发报文，可以连接到一个 </a:t>
            </a:r>
            <a:r>
              <a:rPr lang="en-US" altLang="zh-CN" dirty="0">
                <a:ea typeface="微软雅黑" panose="020B0503020204020204" pitchFamily="34" charset="-122"/>
              </a:rPr>
              <a:t>bridge </a:t>
            </a:r>
            <a:r>
              <a:rPr lang="zh-CN" altLang="en-US" dirty="0">
                <a:ea typeface="微软雅黑" panose="020B0503020204020204" pitchFamily="34" charset="-122"/>
              </a:rPr>
              <a:t>上实现更复杂的路由功能。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7FFED3-063D-CAC4-15F1-D7D8D54EFF6A}"/>
              </a:ext>
            </a:extLst>
          </p:cNvPr>
          <p:cNvSpPr txBox="1"/>
          <p:nvPr/>
        </p:nvSpPr>
        <p:spPr>
          <a:xfrm>
            <a:off x="2221352" y="1583762"/>
            <a:ext cx="6253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QEMU 在用户态解析 guest 收发的网络报文。会将 guest 报文的行为翻译成普通socket转发给别人。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5B79E3-D3ED-36AC-633D-3B1AC4CF3812}"/>
              </a:ext>
            </a:extLst>
          </p:cNvPr>
          <p:cNvSpPr txBox="1"/>
          <p:nvPr/>
        </p:nvSpPr>
        <p:spPr>
          <a:xfrm>
            <a:off x="2222272" y="431354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Guest 的 virtio 队列通过共享内存与 Host 内核直接交互，绕过了 QEMU 用户态的数据拷贝和上下文切换。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452F8C-E9AB-EE60-2C6D-D6742BDB91A5}"/>
              </a:ext>
            </a:extLst>
          </p:cNvPr>
          <p:cNvSpPr txBox="1"/>
          <p:nvPr/>
        </p:nvSpPr>
        <p:spPr>
          <a:xfrm>
            <a:off x="9937787" y="4487099"/>
            <a:ext cx="1662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lang="zh-CN" altLang="en-US" sz="1800" dirty="0"/>
              <a:t>主力性能测试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81B98ED-A0B6-0D33-9EC7-B6B747C885AC}"/>
              </a:ext>
            </a:extLst>
          </p:cNvPr>
          <p:cNvSpPr txBox="1"/>
          <p:nvPr/>
        </p:nvSpPr>
        <p:spPr>
          <a:xfrm>
            <a:off x="9747929" y="1723653"/>
            <a:ext cx="2042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lang="zh-CN" altLang="en-US" sz="1800" dirty="0"/>
              <a:t>不用于性能结论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8C1215-E2B2-6C4D-196C-DC9A74FF4079}"/>
              </a:ext>
            </a:extLst>
          </p:cNvPr>
          <p:cNvSpPr txBox="1"/>
          <p:nvPr/>
        </p:nvSpPr>
        <p:spPr>
          <a:xfrm>
            <a:off x="8465360" y="4224145"/>
            <a:ext cx="1389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lang="en-US" altLang="zh-CN" sz="1800" dirty="0" err="1"/>
              <a:t>sudo</a:t>
            </a:r>
            <a:r>
              <a:rPr lang="en-US" altLang="zh-CN" sz="1800" dirty="0"/>
              <a:t> + KVM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rPr lang="en-US" altLang="zh-CN" sz="1800" dirty="0"/>
              <a:t>+ </a:t>
            </a:r>
            <a:r>
              <a:rPr lang="en-US" altLang="zh-CN" sz="1800" dirty="0" err="1"/>
              <a:t>vhost</a:t>
            </a:r>
            <a:r>
              <a:rPr lang="en-US" altLang="zh-CN" sz="1800" dirty="0"/>
              <a:t>-net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D99837-87FA-9A15-9916-11A9084E910F}"/>
              </a:ext>
            </a:extLst>
          </p:cNvPr>
          <p:cNvSpPr txBox="1"/>
          <p:nvPr/>
        </p:nvSpPr>
        <p:spPr>
          <a:xfrm>
            <a:off x="8644362" y="3043887"/>
            <a:ext cx="873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lang="en-US" altLang="zh-CN" sz="1800" dirty="0" err="1"/>
              <a:t>sudo</a:t>
            </a:r>
            <a:endParaRPr lang="en-US" altLang="zh-CN" sz="18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ABF050-9B7B-7A45-D413-AC06E43502C8}"/>
              </a:ext>
            </a:extLst>
          </p:cNvPr>
          <p:cNvSpPr txBox="1"/>
          <p:nvPr/>
        </p:nvSpPr>
        <p:spPr>
          <a:xfrm>
            <a:off x="8572050" y="1694972"/>
            <a:ext cx="1175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lang="zh-CN" altLang="en-US" sz="1800" dirty="0"/>
              <a:t>无需 </a:t>
            </a:r>
            <a:r>
              <a:rPr lang="en-US" altLang="zh-CN" sz="1800" dirty="0"/>
              <a:t>root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B25794-4BE4-AB4E-6B88-3AA1AB40E976}"/>
              </a:ext>
            </a:extLst>
          </p:cNvPr>
          <p:cNvSpPr txBox="1"/>
          <p:nvPr/>
        </p:nvSpPr>
        <p:spPr>
          <a:xfrm>
            <a:off x="10092929" y="3065807"/>
            <a:ext cx="1130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lang="zh-CN" altLang="en-US" sz="1800" dirty="0"/>
              <a:t>降级方案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A4E9355-A383-12E6-59AD-4CB64D606044}"/>
              </a:ext>
            </a:extLst>
          </p:cNvPr>
          <p:cNvSpPr txBox="1"/>
          <p:nvPr/>
        </p:nvSpPr>
        <p:spPr>
          <a:xfrm>
            <a:off x="780244" y="5641384"/>
            <a:ext cx="10629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QEMU 虚拟网卡性能：多次网卡IO操作，虚拟机的网络性能受限于上下文和 guest/host 切换的速度，远低于物理机的性能水平。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2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2D2D"/>
                </a:solidFill>
              </a:defRPr>
            </a:pPr>
            <a:r>
              <a:rPr lang="zh-CN" altLang="en-US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方案三 </a:t>
            </a:r>
            <a:r>
              <a:rPr lang="en-US" altLang="zh-CN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2800" dirty="0"/>
              <a:t>net-bench </a:t>
            </a:r>
            <a:r>
              <a:rPr sz="2800" dirty="0" err="1"/>
              <a:t>设计：五种测试维度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48569" y="824094"/>
            <a:ext cx="4950582" cy="323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66666"/>
                </a:solidFill>
              </a:defRPr>
            </a:pPr>
            <a:r>
              <a:rPr sz="1500" dirty="0" err="1"/>
              <a:t>单测</a:t>
            </a:r>
            <a:r>
              <a:rPr sz="1500" dirty="0"/>
              <a:t> TCP </a:t>
            </a:r>
            <a:r>
              <a:rPr sz="1500" dirty="0" err="1"/>
              <a:t>吞吐信息量太低</a:t>
            </a:r>
            <a:r>
              <a:rPr sz="1500" dirty="0"/>
              <a:t>——</a:t>
            </a:r>
            <a:r>
              <a:rPr sz="1500" dirty="0" err="1"/>
              <a:t>五个维度各自对应一类瓶颈</a:t>
            </a:r>
            <a:endParaRPr sz="15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568" y="1372662"/>
          <a:ext cx="10971372" cy="2633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2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8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测试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测量内容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暴露的瓶颈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瓶颈对应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tcp1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TCP单流上行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单连接发送吞吐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基础协议效率、拷贝路径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数据路径偏长 (4+次拷贝)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tcp4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TCP 4并发流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多流并发吞吐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锁竞争、调度开销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SOCKET_SET 全局大锁串行化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tcp1r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TCP单流下行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接收路径吞吐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收包 ring 效率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RX_PREFETCH_TARGET=1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8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udp1g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UDP大包 1Gbps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无连接大包吞吐/丢包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发送路径容量上限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Router 环 64 包固定容量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突发静默丢包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8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udp64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UDP 64B 小包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PPS 极限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每包固定开销放大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 dirty="0" err="1"/>
                        <a:t>拷贝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加锁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分配的</a:t>
                      </a:r>
                      <a:endParaRPr sz="1100" dirty="0"/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 dirty="0"/>
                        <a:t>per-packet </a:t>
                      </a:r>
                      <a:r>
                        <a:rPr sz="1100" dirty="0" err="1"/>
                        <a:t>成本</a:t>
                      </a:r>
                      <a:endParaRPr sz="11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568" y="4755502"/>
            <a:ext cx="10971371" cy="1297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rPr sz="1300" dirty="0"/>
              <a:t>每个测试项：1 次 warmup + 5 </a:t>
            </a:r>
            <a:r>
              <a:rPr sz="1300" dirty="0" err="1"/>
              <a:t>次正式测量</a:t>
            </a:r>
            <a:r>
              <a:rPr sz="1300" dirty="0"/>
              <a:t> → </a:t>
            </a:r>
            <a:r>
              <a:rPr sz="1300" dirty="0" err="1"/>
              <a:t>均值</a:t>
            </a:r>
            <a:r>
              <a:rPr sz="1300" dirty="0"/>
              <a:t> + </a:t>
            </a:r>
            <a:r>
              <a:rPr sz="1300" dirty="0" err="1"/>
              <a:t>标准差。不用单次峰值做结论</a:t>
            </a:r>
            <a:r>
              <a:rPr sz="1300" dirty="0"/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endParaRPr sz="1300" dirty="0"/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rPr sz="1300" dirty="0"/>
              <a:t>tcp4/tcp1 </a:t>
            </a:r>
            <a:r>
              <a:rPr sz="1300" dirty="0" err="1"/>
              <a:t>比值直接量化锁竞争：比值远小于</a:t>
            </a:r>
            <a:r>
              <a:rPr sz="1300" dirty="0"/>
              <a:t> 4 </a:t>
            </a:r>
            <a:r>
              <a:rPr sz="1300" dirty="0" err="1"/>
              <a:t>说明多流被全局锁串行化</a:t>
            </a:r>
            <a:r>
              <a:rPr sz="1300" dirty="0"/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rPr sz="1300" dirty="0"/>
              <a:t>udp64 </a:t>
            </a:r>
            <a:r>
              <a:rPr sz="1300" dirty="0" err="1"/>
              <a:t>小包</a:t>
            </a:r>
            <a:r>
              <a:rPr sz="1300" dirty="0"/>
              <a:t> PPS </a:t>
            </a:r>
            <a:r>
              <a:rPr sz="1300" dirty="0" err="1"/>
              <a:t>最能放大每包固定成本</a:t>
            </a:r>
            <a:r>
              <a:rPr sz="1300" dirty="0"/>
              <a:t>——</a:t>
            </a:r>
            <a:r>
              <a:rPr sz="1300" dirty="0" err="1"/>
              <a:t>大包吞吐容易掩盖这些开销</a:t>
            </a:r>
            <a:r>
              <a:rPr sz="1300" dirty="0"/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rPr sz="1300" dirty="0"/>
              <a:t>udp1g </a:t>
            </a:r>
            <a:r>
              <a:rPr sz="1300" dirty="0" err="1"/>
              <a:t>测丢包率</a:t>
            </a:r>
            <a:r>
              <a:rPr sz="1300" dirty="0"/>
              <a:t>——Router </a:t>
            </a:r>
            <a:r>
              <a:rPr sz="1300" dirty="0" err="1"/>
              <a:t>环仅</a:t>
            </a:r>
            <a:r>
              <a:rPr sz="1300" dirty="0"/>
              <a:t> 64 </a:t>
            </a:r>
            <a:r>
              <a:rPr sz="1300" dirty="0" err="1"/>
              <a:t>包，高带宽突发下出现静默丢包会被暴露</a:t>
            </a:r>
            <a:r>
              <a:rPr sz="1300" dirty="0"/>
              <a:t>。</a:t>
            </a:r>
            <a:r>
              <a:rPr lang="en-US" sz="1300" dirty="0"/>
              <a:t> </a:t>
            </a:r>
            <a:endParaRPr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2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2D2D"/>
                </a:solidFill>
              </a:defRPr>
            </a:pPr>
            <a:r>
              <a:rPr lang="zh-CN" altLang="en-US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方案三 </a:t>
            </a:r>
            <a:r>
              <a:rPr lang="en-US" altLang="zh-CN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2800" dirty="0"/>
              <a:t>net-bench </a:t>
            </a:r>
            <a:r>
              <a:rPr sz="2800" dirty="0" err="1"/>
              <a:t>设计</a:t>
            </a:r>
            <a:r>
              <a:rPr sz="2800" dirty="0"/>
              <a:t>：</a:t>
            </a:r>
            <a:r>
              <a:rPr lang="zh-CN" altLang="en-US" sz="2800" dirty="0"/>
              <a:t>自动化 </a:t>
            </a:r>
            <a:r>
              <a:rPr lang="en-US" altLang="zh-CN" sz="2800" dirty="0"/>
              <a:t>CI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48569" y="824094"/>
            <a:ext cx="4223683" cy="323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66666"/>
                </a:solidFill>
              </a:defRPr>
            </a:pPr>
            <a:r>
              <a:rPr sz="1500"/>
              <a:t>可复现、可度量、可解释、可自动化的关键机制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568" y="1372662"/>
          <a:ext cx="10971372" cy="2788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8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设计要点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机制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解决的问题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2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环境自动检测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detect-env.sh 探测 WSL/Linux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x86_64/aarch64 / KVM / vhost-net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输出 JSON 供后续脚本决策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开发者环境差异大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自动选择拓扑+QEMU配置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无需人工判断该用哪种模式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2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状态跟踪 &amp; 清理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.bench-state.json 记录 br0/tap0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后台进程 PID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tearDown.sh 按逆序逐项清理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测试中途退出或忘记清理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遗留设备干扰下次测试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从约定变成机制，一键恢复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2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Linux 基线对比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同一拓扑启动 Linux VM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同组测试 + compare-baseline.py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不能自己跟自己比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可量化 Starry/Linux 差距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如 TCP 达到 Linux 同拓扑 60%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多维统计结果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summarize.py: 均值+标准差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不用单次峰值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单次峰值无统计意义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100"/>
                        <a:t>可判断波动是否噪声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F695C4A-D55A-2501-C685-C6475A0BEEB3}"/>
              </a:ext>
            </a:extLst>
          </p:cNvPr>
          <p:cNvSpPr txBox="1"/>
          <p:nvPr/>
        </p:nvSpPr>
        <p:spPr>
          <a:xfrm>
            <a:off x="548568" y="4275739"/>
            <a:ext cx="90859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当前局限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归因依赖人工</a:t>
            </a:r>
            <a:r>
              <a:rPr lang="en-US" altLang="zh-CN" dirty="0"/>
              <a:t>——</a:t>
            </a:r>
            <a:r>
              <a:rPr lang="zh-CN" altLang="en-US" dirty="0"/>
              <a:t>能算均值</a:t>
            </a:r>
            <a:r>
              <a:rPr lang="en-US" altLang="zh-CN" dirty="0"/>
              <a:t>/</a:t>
            </a:r>
            <a:r>
              <a:rPr lang="zh-CN" altLang="en-US" dirty="0"/>
              <a:t>方差，不能推断吞吐下降的具体根因</a:t>
            </a:r>
            <a:r>
              <a:rPr lang="en-US" altLang="zh-CN" dirty="0"/>
              <a:t>——</a:t>
            </a:r>
            <a:r>
              <a:rPr lang="zh-CN" altLang="en-US" dirty="0"/>
              <a:t>需联动内核归因</a:t>
            </a: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  <a:p>
            <a:r>
              <a:rPr lang="en-US" altLang="zh-CN" dirty="0"/>
              <a:t>2. </a:t>
            </a:r>
            <a:r>
              <a:rPr lang="zh-CN" altLang="en-US" dirty="0"/>
              <a:t>侧重数据面持续吞吐，短连接速率 </a:t>
            </a:r>
            <a:r>
              <a:rPr lang="en-US" altLang="zh-CN" dirty="0"/>
              <a:t>(connect/accept/close) </a:t>
            </a:r>
            <a:r>
              <a:rPr lang="zh-CN" altLang="en-US" dirty="0"/>
              <a:t>由 </a:t>
            </a:r>
            <a:r>
              <a:rPr lang="en-US" altLang="zh-CN" dirty="0" err="1"/>
              <a:t>Nginx+wrk</a:t>
            </a:r>
            <a:r>
              <a:rPr lang="en-US" altLang="zh-CN" dirty="0"/>
              <a:t> </a:t>
            </a:r>
            <a:r>
              <a:rPr lang="zh-CN" altLang="en-US" dirty="0"/>
              <a:t>覆盖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3. iperf3 </a:t>
            </a:r>
            <a:r>
              <a:rPr lang="zh-CN" altLang="en-US" dirty="0"/>
              <a:t>不能精准控制包大小</a:t>
            </a:r>
            <a:r>
              <a:rPr lang="en-US" altLang="zh-CN" dirty="0"/>
              <a:t>/</a:t>
            </a:r>
            <a:r>
              <a:rPr lang="zh-CN" altLang="en-US" dirty="0"/>
              <a:t>间隔</a:t>
            </a:r>
            <a:r>
              <a:rPr lang="en-US" altLang="zh-CN" dirty="0"/>
              <a:t>/burst</a:t>
            </a:r>
            <a:r>
              <a:rPr lang="zh-CN" altLang="en-US" dirty="0"/>
              <a:t>，精细 </a:t>
            </a:r>
            <a:r>
              <a:rPr lang="en-US" altLang="zh-CN" dirty="0"/>
              <a:t>PPS </a:t>
            </a:r>
            <a:r>
              <a:rPr lang="zh-CN" altLang="en-US" dirty="0"/>
              <a:t>需自研 </a:t>
            </a:r>
            <a:r>
              <a:rPr lang="en-US" altLang="zh-CN" dirty="0" err="1"/>
              <a:t>pktgen</a:t>
            </a:r>
            <a:r>
              <a:rPr lang="zh-CN" altLang="en-US" dirty="0"/>
              <a:t>，尚未实现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4. </a:t>
            </a:r>
            <a:r>
              <a:rPr lang="en-US" altLang="zh-CN" dirty="0" err="1"/>
              <a:t>eBPF</a:t>
            </a:r>
            <a:r>
              <a:rPr lang="en-US" altLang="zh-CN" dirty="0"/>
              <a:t> </a:t>
            </a:r>
            <a:r>
              <a:rPr lang="en-US" altLang="zh-CN" dirty="0" err="1"/>
              <a:t>net_stats</a:t>
            </a:r>
            <a:r>
              <a:rPr lang="en-US" altLang="zh-CN" dirty="0"/>
              <a:t> </a:t>
            </a:r>
            <a:r>
              <a:rPr lang="zh-CN" altLang="en-US" dirty="0"/>
              <a:t>观测与压测流程尚未自动集成（需手动 </a:t>
            </a:r>
            <a:r>
              <a:rPr lang="en-US" altLang="zh-CN" dirty="0"/>
              <a:t>attach/detach</a:t>
            </a:r>
            <a:r>
              <a:rPr lang="zh-CN" altLang="en-US" dirty="0"/>
              <a:t>）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lang="zh-CN" altLang="en-US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方案三 </a:t>
            </a:r>
            <a:r>
              <a:rPr lang="en-US" altLang="zh-CN" sz="3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3200" dirty="0" err="1"/>
              <a:t>StarryOS</a:t>
            </a:r>
            <a:r>
              <a:rPr sz="3200" dirty="0"/>
              <a:t> </a:t>
            </a:r>
            <a:r>
              <a:rPr sz="3200" dirty="0" err="1"/>
              <a:t>网络栈瓶颈评估</a:t>
            </a:r>
            <a:endParaRPr sz="32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568" y="1464090"/>
          <a:ext cx="10971372" cy="2194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2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 err="1"/>
                        <a:t>瓶颈类别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现状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影响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内存拷贝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每包 4+ 次拷贝 (DMA→Vec→rx_buffer→socket环→用户)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单核吞吐直接损耗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2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全局锁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SOCKET_SET / SERVICE 全局 Mutex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多核扩展性不足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2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批处理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RX_PREFETCH_TARGET = 1, 每包加锁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小包 PPS 受限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2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硬件 offload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无校验和 offload / TSO / GRO / GSO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CPU 额外开销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2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缓冲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Router 环 64 包固定容量, setsockopt no-op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 err="1"/>
                        <a:t>突发丢包</a:t>
                      </a: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568" y="3384080"/>
          <a:ext cx="10971372" cy="1599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99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优化阶段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重点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当前完成度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第一阶段: 稳定性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清理 panic / 丢包统计 / 批处理 / 缓冲扩容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约 40%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第二阶段: 单核效率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去拷贝 / buffer 池 / offload / 窗口调整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约 10%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第三阶段: 多核扩展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锁拆分 / 多队列 RSS / per-CPU 结构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约 20%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 sz="1200" dirty="0"/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综合完成度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 dirty="0"/>
                        <a:t>约 30%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sz="3200"/>
              <a:t>PR 与代码产出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568" y="1464090"/>
          <a:ext cx="10971372" cy="4159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99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状态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PR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内容</a:t>
                      </a:r>
                    </a:p>
                  </a:txBody>
                  <a:tcPr marL="91428" marR="91428" marT="45714" marB="45714"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#658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epoll 测例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#900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sigsetsize 修复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#903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文件同步系统调用对齐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#1014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Nginx CI 初始实现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#1018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Nginx 多 worker 修复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#1038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Nginx 完整测试框架 (14 phase + 4 arch)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#1267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动态启动路径修复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#1297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x86 IPI 修复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Merged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#1316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VmPeak &amp; VmHWM 增强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Open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#1311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Apache 测试框架 (2367+ 行)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分支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feat/net-enhance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net-bench + eBPF net_stats (未合并)</a:t>
                      </a:r>
                    </a:p>
                  </a:txBody>
                  <a:tcPr marL="91428" marR="91428" marT="45714" marB="4571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99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分支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proj57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200"/>
                        <a:t>ACT 推理 QEMU + RK3588 (未合并)</a:t>
                      </a:r>
                    </a:p>
                  </a:txBody>
                  <a:tcPr marL="91428" marR="91428" marT="45714" marB="45714"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568" y="5944067"/>
            <a:ext cx="10971371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</a:defRPr>
            </a:pPr>
            <a:r>
              <a:rPr sz="1400" dirty="0" err="1"/>
              <a:t>测试代码总览：Nginx</a:t>
            </a:r>
            <a:r>
              <a:rPr sz="1400" dirty="0"/>
              <a:t> 14 phase + 5 debug + 3 stress + Apache 7 phase + 15 debug </a:t>
            </a:r>
            <a:r>
              <a:rPr sz="1400" dirty="0" err="1"/>
              <a:t>探针</a:t>
            </a:r>
            <a:r>
              <a:rPr sz="1400" dirty="0"/>
              <a:t> + net-bench 5 维度×3 </a:t>
            </a:r>
            <a:r>
              <a:rPr sz="1400" dirty="0" err="1"/>
              <a:t>拓扑</a:t>
            </a:r>
            <a:r>
              <a:rPr lang="en-US" sz="140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568" y="275525"/>
            <a:ext cx="10971371" cy="58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rPr sz="3200"/>
              <a:t>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424" y="1464090"/>
            <a:ext cx="10514231" cy="4015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 err="1"/>
              <a:t>网络栈方向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清理数据面</a:t>
            </a:r>
            <a:r>
              <a:rPr sz="1500" dirty="0"/>
              <a:t> panic </a:t>
            </a:r>
            <a:r>
              <a:rPr sz="1500" dirty="0" err="1"/>
              <a:t>路径，增加统计计数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实现</a:t>
            </a:r>
            <a:r>
              <a:rPr sz="1500" dirty="0"/>
              <a:t> RX </a:t>
            </a:r>
            <a:r>
              <a:rPr sz="1500" dirty="0" err="1"/>
              <a:t>批处理</a:t>
            </a:r>
            <a:r>
              <a:rPr sz="1500" dirty="0"/>
              <a:t> (RX_PREFETCH_TARGET → 32/64) 与 buffer </a:t>
            </a:r>
            <a:r>
              <a:rPr sz="1500" dirty="0" err="1"/>
              <a:t>池复用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推进</a:t>
            </a:r>
            <a:r>
              <a:rPr sz="1500" dirty="0"/>
              <a:t> SOCKET_SET </a:t>
            </a:r>
            <a:r>
              <a:rPr sz="1500" dirty="0" err="1"/>
              <a:t>锁拆分与多队列支持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建立</a:t>
            </a:r>
            <a:r>
              <a:rPr sz="1500" dirty="0"/>
              <a:t> </a:t>
            </a:r>
            <a:r>
              <a:rPr sz="1500" dirty="0" err="1"/>
              <a:t>QEMU+vhost</a:t>
            </a:r>
            <a:r>
              <a:rPr sz="1500" dirty="0"/>
              <a:t> </a:t>
            </a:r>
            <a:r>
              <a:rPr sz="1500" dirty="0" err="1"/>
              <a:t>持续性能回归基线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proj57 </a:t>
            </a:r>
            <a:r>
              <a:rPr sz="1500" dirty="0" err="1"/>
              <a:t>方向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申请</a:t>
            </a:r>
            <a:r>
              <a:rPr sz="1500" dirty="0"/>
              <a:t> SG2002 </a:t>
            </a:r>
            <a:r>
              <a:rPr sz="1500" dirty="0" err="1"/>
              <a:t>开发板，完成</a:t>
            </a:r>
            <a:r>
              <a:rPr sz="1500" dirty="0"/>
              <a:t> TPU </a:t>
            </a:r>
            <a:r>
              <a:rPr sz="1500" dirty="0" err="1"/>
              <a:t>推理适配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优化模型加载和预处理阶段性能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 err="1"/>
              <a:t>工程方向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推</a:t>
            </a:r>
            <a:r>
              <a:rPr lang="zh-CN" altLang="en-US" sz="1500" dirty="0"/>
              <a:t>动 </a:t>
            </a:r>
            <a:r>
              <a:rPr lang="en-US" sz="1500" dirty="0"/>
              <a:t>PR</a:t>
            </a:r>
            <a:r>
              <a:rPr lang="zh-CN" altLang="en-US" sz="1500" dirty="0"/>
              <a:t> 合并</a:t>
            </a:r>
            <a:endParaRPr sz="1500" dirty="0"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1500" dirty="0"/>
              <a:t>  → </a:t>
            </a:r>
            <a:r>
              <a:rPr sz="1500" dirty="0" err="1"/>
              <a:t>完善</a:t>
            </a:r>
            <a:r>
              <a:rPr sz="1500" dirty="0"/>
              <a:t> net-bench 与 </a:t>
            </a:r>
            <a:r>
              <a:rPr sz="1500" dirty="0" err="1"/>
              <a:t>eBPF</a:t>
            </a:r>
            <a:r>
              <a:rPr sz="1500" dirty="0"/>
              <a:t> </a:t>
            </a:r>
            <a:r>
              <a:rPr sz="1500" dirty="0" err="1"/>
              <a:t>工具的自动集成</a:t>
            </a:r>
            <a:r>
              <a:rPr lang="en-US" sz="1500" dirty="0"/>
              <a:t> </a:t>
            </a:r>
            <a:endParaRPr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281" y="2561227"/>
            <a:ext cx="10057090" cy="731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致谢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914281" y="3841221"/>
            <a:ext cx="10057090" cy="213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ea typeface="+mj-ea"/>
              </a:rPr>
              <a:t>导师：陈渝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ea typeface="+mj-ea"/>
              </a:rPr>
              <a:t>助教：</a:t>
            </a:r>
            <a:r>
              <a:rPr lang="en-US" altLang="zh-CN" dirty="0" err="1">
                <a:ea typeface="+mj-ea"/>
              </a:rPr>
              <a:t>Mr</a:t>
            </a:r>
            <a:r>
              <a:rPr lang="en-US" altLang="zh-CN" dirty="0">
                <a:ea typeface="+mj-ea"/>
              </a:rPr>
              <a:t> Graveyard</a:t>
            </a:r>
            <a:r>
              <a:rPr lang="zh-CN" altLang="en-US" dirty="0">
                <a:ea typeface="+mj-ea"/>
              </a:rPr>
              <a:t>（方案一）、</a:t>
            </a:r>
            <a:r>
              <a:rPr lang="en-US" altLang="zh-CN" dirty="0">
                <a:ea typeface="+mj-ea"/>
              </a:rPr>
              <a:t>Ajax</a:t>
            </a:r>
            <a:r>
              <a:rPr lang="zh-CN" altLang="en-US" dirty="0">
                <a:ea typeface="+mj-ea"/>
              </a:rPr>
              <a:t>（</a:t>
            </a:r>
            <a:r>
              <a:rPr lang="en-US" altLang="zh-CN" dirty="0">
                <a:ea typeface="+mj-ea"/>
              </a:rPr>
              <a:t>rk3588</a:t>
            </a:r>
            <a:r>
              <a:rPr lang="zh-CN" altLang="en-US" dirty="0">
                <a:ea typeface="+mj-ea"/>
              </a:rPr>
              <a:t>）、周睿老师（</a:t>
            </a:r>
            <a:r>
              <a:rPr lang="en-US" altLang="zh-CN" dirty="0">
                <a:ea typeface="+mj-ea"/>
              </a:rPr>
              <a:t>NPU </a:t>
            </a:r>
            <a:r>
              <a:rPr lang="zh-CN" altLang="en-US" dirty="0">
                <a:ea typeface="+mj-ea"/>
              </a:rPr>
              <a:t>优化与 </a:t>
            </a:r>
            <a:r>
              <a:rPr lang="en-US" altLang="zh-CN" dirty="0">
                <a:ea typeface="+mj-ea"/>
              </a:rPr>
              <a:t>PR review</a:t>
            </a:r>
            <a:r>
              <a:rPr lang="zh-CN" altLang="en-US" dirty="0">
                <a:ea typeface="+mj-ea"/>
              </a:rPr>
              <a:t>）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ea typeface="+mj-ea"/>
              </a:rPr>
              <a:t>同组：</a:t>
            </a:r>
            <a:r>
              <a:rPr lang="en-US" altLang="zh-CN" dirty="0">
                <a:ea typeface="+mj-ea"/>
              </a:rPr>
              <a:t>aptacc2421</a:t>
            </a:r>
            <a:r>
              <a:rPr lang="zh-CN" altLang="en-US" dirty="0">
                <a:ea typeface="+mj-ea"/>
              </a:rPr>
              <a:t>、</a:t>
            </a:r>
            <a:r>
              <a:rPr lang="en-US" altLang="zh-CN" dirty="0">
                <a:ea typeface="+mj-ea"/>
              </a:rPr>
              <a:t>WellDown64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en-US" altLang="zh-CN" dirty="0">
                <a:ea typeface="+mj-ea"/>
              </a:rPr>
              <a:t>Nginx </a:t>
            </a:r>
            <a:r>
              <a:rPr lang="zh-CN" altLang="en-US" dirty="0">
                <a:ea typeface="+mj-ea"/>
              </a:rPr>
              <a:t>初步支持：龙同学 </a:t>
            </a:r>
            <a:r>
              <a:rPr lang="en-US" altLang="zh-CN" dirty="0">
                <a:ea typeface="+mj-ea"/>
              </a:rPr>
              <a:t>(</a:t>
            </a:r>
            <a:r>
              <a:rPr lang="en-US" altLang="zh-CN" dirty="0" err="1">
                <a:ea typeface="+mj-ea"/>
              </a:rPr>
              <a:t>LetsWalkInLine</a:t>
            </a:r>
            <a:r>
              <a:rPr lang="en-US" altLang="zh-CN" dirty="0">
                <a:ea typeface="+mj-ea"/>
              </a:rPr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en-US" altLang="zh-CN" dirty="0" err="1">
                <a:ea typeface="+mj-ea"/>
              </a:rPr>
              <a:t>eBPF</a:t>
            </a:r>
            <a:r>
              <a:rPr lang="en-US" altLang="zh-CN" dirty="0">
                <a:ea typeface="+mj-ea"/>
              </a:rPr>
              <a:t> </a:t>
            </a:r>
            <a:r>
              <a:rPr lang="zh-CN" altLang="en-US" dirty="0">
                <a:ea typeface="+mj-ea"/>
              </a:rPr>
              <a:t>内核运行时：</a:t>
            </a:r>
            <a:r>
              <a:rPr lang="en-US" altLang="zh-CN" dirty="0">
                <a:ea typeface="+mj-ea"/>
              </a:rPr>
              <a:t>CN-</a:t>
            </a:r>
            <a:r>
              <a:rPr lang="en-US" altLang="zh-CN" dirty="0" err="1">
                <a:ea typeface="+mj-ea"/>
              </a:rPr>
              <a:t>TangLin</a:t>
            </a:r>
            <a:r>
              <a:rPr lang="en-US" altLang="zh-CN" dirty="0">
                <a:ea typeface="+mj-ea"/>
              </a:rPr>
              <a:t> 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endParaRPr lang="zh-CN" altLang="en-US" dirty="0"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Theme">
  <a:themeElements>
    <a:clrScheme name="炫彩扁平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BF53"/>
      </a:accent1>
      <a:accent2>
        <a:srgbClr val="F17475"/>
      </a:accent2>
      <a:accent3>
        <a:srgbClr val="01B3C5"/>
      </a:accent3>
      <a:accent4>
        <a:srgbClr val="77448C"/>
      </a:accent4>
      <a:accent5>
        <a:srgbClr val="00AF92"/>
      </a:accent5>
      <a:accent6>
        <a:srgbClr val="C65885"/>
      </a:accent6>
      <a:hlink>
        <a:srgbClr val="FCC79F"/>
      </a:hlink>
      <a:folHlink>
        <a:srgbClr val="869F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1523</Words>
  <Application>Microsoft Office PowerPoint</Application>
  <PresentationFormat>自定义</PresentationFormat>
  <Paragraphs>353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商务ppt</dc:title>
  <dc:creator>lzj</dc:creator>
  <cp:lastModifiedBy>Ke Liu</cp:lastModifiedBy>
  <cp:revision>1763</cp:revision>
  <dcterms:created xsi:type="dcterms:W3CDTF">2015-12-01T09:06:00Z</dcterms:created>
  <dcterms:modified xsi:type="dcterms:W3CDTF">2026-06-28T11:10:00Z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